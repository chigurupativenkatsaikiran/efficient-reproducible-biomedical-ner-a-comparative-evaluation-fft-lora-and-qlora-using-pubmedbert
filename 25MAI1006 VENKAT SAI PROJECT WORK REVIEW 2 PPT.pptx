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324" r:id="rId3"/>
    <p:sldId id="259" r:id="rId4"/>
    <p:sldId id="260" r:id="rId5"/>
    <p:sldId id="335" r:id="rId6"/>
    <p:sldId id="264" r:id="rId7"/>
    <p:sldId id="329" r:id="rId8"/>
    <p:sldId id="336" r:id="rId9"/>
    <p:sldId id="337" r:id="rId10"/>
    <p:sldId id="338" r:id="rId11"/>
    <p:sldId id="339" r:id="rId12"/>
    <p:sldId id="340" r:id="rId13"/>
    <p:sldId id="342" r:id="rId14"/>
    <p:sldId id="343" r:id="rId15"/>
    <p:sldId id="265" r:id="rId16"/>
    <p:sldId id="312" r:id="rId17"/>
    <p:sldId id="328" r:id="rId18"/>
    <p:sldId id="330" r:id="rId19"/>
    <p:sldId id="331" r:id="rId20"/>
    <p:sldId id="345" r:id="rId21"/>
    <p:sldId id="332" r:id="rId22"/>
    <p:sldId id="346" r:id="rId23"/>
    <p:sldId id="347" r:id="rId24"/>
    <p:sldId id="348" r:id="rId25"/>
    <p:sldId id="349" r:id="rId26"/>
    <p:sldId id="341" r:id="rId27"/>
    <p:sldId id="317" r:id="rId28"/>
    <p:sldId id="318" r:id="rId29"/>
    <p:sldId id="319" r:id="rId30"/>
    <p:sldId id="321" r:id="rId31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D5E3F9-1908-462C-AB2E-2A4438919712}" v="2" dt="2026-06-22T21:05:39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4689" autoAdjust="0"/>
  </p:normalViewPr>
  <p:slideViewPr>
    <p:cSldViewPr>
      <p:cViewPr>
        <p:scale>
          <a:sx n="100" d="100"/>
          <a:sy n="100" d="100"/>
        </p:scale>
        <p:origin x="43" y="-586"/>
      </p:cViewPr>
      <p:guideLst>
        <p:guide orient="horz" pos="2304"/>
        <p:guide pos="4032"/>
      </p:guideLst>
    </p:cSldViewPr>
  </p:slideViewPr>
  <p:outlineViewPr>
    <p:cViewPr>
      <p:scale>
        <a:sx n="33" d="100"/>
        <a:sy n="33" d="100"/>
      </p:scale>
      <p:origin x="0" y="-17885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gurupati Venkat Sai Kiran" userId="7ec4b5bdc0f6181f" providerId="LiveId" clId="{86B9CD14-ADC3-436C-9608-28948B3D7443}"/>
    <pc:docChg chg="undo custSel modSld">
      <pc:chgData name="Chigurupati Venkat Sai Kiran" userId="7ec4b5bdc0f6181f" providerId="LiveId" clId="{86B9CD14-ADC3-436C-9608-28948B3D7443}" dt="2026-06-22T21:05:39.174" v="29" actId="14826"/>
      <pc:docMkLst>
        <pc:docMk/>
      </pc:docMkLst>
      <pc:sldChg chg="modSp mod">
        <pc:chgData name="Chigurupati Venkat Sai Kiran" userId="7ec4b5bdc0f6181f" providerId="LiveId" clId="{86B9CD14-ADC3-436C-9608-28948B3D7443}" dt="2026-06-22T21:05:39.174" v="29" actId="14826"/>
        <pc:sldMkLst>
          <pc:docMk/>
          <pc:sldMk cId="1380825739" sldId="312"/>
        </pc:sldMkLst>
        <pc:picChg chg="mod">
          <ac:chgData name="Chigurupati Venkat Sai Kiran" userId="7ec4b5bdc0f6181f" providerId="LiveId" clId="{86B9CD14-ADC3-436C-9608-28948B3D7443}" dt="2026-06-22T21:05:39.174" v="29" actId="14826"/>
          <ac:picMkLst>
            <pc:docMk/>
            <pc:sldMk cId="1380825739" sldId="312"/>
            <ac:picMk id="15" creationId="{18C63725-535B-43D4-15D8-EAD9CC30B90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Reproducible Fine-Tuning of Biomedical Large Language Models Using QLoRA</a:t>
            </a:r>
            <a:endParaRPr lang="en-US" sz="39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 Project Work Review-II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CHIGURUPATI VENKAT SAI KIRAN(25MAI1006)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 Computer Science and Engineering (AI &amp; ML)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SUJATHA M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ASSISTANT PROFESSOR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VIT Logo">
            <a:extLst>
              <a:ext uri="{FF2B5EF4-FFF2-40B4-BE49-F238E27FC236}">
                <a16:creationId xmlns:a16="http://schemas.microsoft.com/office/drawing/2014/main" id="{3480622C-94EE-8879-D91B-FCEDA7BB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591" y="1831079"/>
            <a:ext cx="4716417" cy="128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 fontScale="850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880"/>
            <a:ext cx="11704320" cy="482769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fine-tuning the biomedical language model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PubMedBERT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MedMCQA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for medical question answering. It addresses challenges such as high computational cost and lack of reproducibility in domain-specific model training.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methodology includes data preprocessing, tokenization, and fine-tuning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PubMedBERT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controlled setup with two random seeds. Model performance is evaluated using accuracy, training loss, and validation loss, along with analysis of loss convergence and stability.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that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PubMedBERT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captures biomedical knowledge and provides consistent predictions across runs. Training and validation losses converge smoothly, and accuracy improves with minimal variation between seeds.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outcome is a reproducible and efficient biomedical question answering system suitable for resource-constrained environments and real-world healthcare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question answering plays a crucial role in healthcare applications such as clinical decision support and medical education. However, training large language models for domain-specific tasks is computationally expensive and often lacks reproducibility. Efficient fine-tuning methods are required to make these models practical under limited resources.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PubMedBERT is a domain-specific language model trained on biomedical text, making it suitable for medical question answering tasks. The MedMCQA dataset provides a large collection of multiple-choice medical questions that require both domain knowledge and reasoning.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fine-tuning PubMedBERT on the MedMCQA dataset using a controlled experimental setup with two random seeds. The objective is to evaluate model performance, analyze training stability, and ensure reproducibility while maintaining efficiency in resource-constrained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/>
        </p:nvGraphicFramePr>
        <p:xfrm>
          <a:off x="685799" y="1669892"/>
          <a:ext cx="11475720" cy="4580413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Repeatability of fine-tuning LLMs using QLoRA (Alahmari et al.,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QLoRA (4-bit quant + LoRA), multi-run experiments, statistical analysis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high run-to-run variability; quantization &amp; random seed strongly affect repeatability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model sizes/datasets; deeper hardware/optimizer causes not fully isolated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evaluation of quantization-aware LoRA (Chen &amp; Liu,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Quantization-aware training + LoRA, controlled experiments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quantization settings that reduce accuracy loss and improve robustness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multi-seed reproducibility tests; not focused on domain-specific data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QLoRA: Efficient fine-tuning of quantized LLMs (Dettmers et al., 2023)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4-bit quantization, LoRA adapters, mixed precision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large-model fine-tuning on modest hardware with small performance drop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Repeatability and safety under quantization not thoroughly studied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PEFT of large-scale pre-trained models (Ding et al., 2023)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PEFT (Adapters, LoRA, Prefix)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PEFT methods achieve strong performance with far fewer trainable params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analysis of reproducibility and quantization interactions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75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PEFT survey (Han et al.,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survey, taxonomy of PEFT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Clarifies pros/cons of PEFT families and implementation pitfalls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only — little new experimental evidence on stability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LoRA-Pro: optimization of LoRA (Hu et al.,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Optimizer modifications for LoRA, empirical tests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convergence and stability for LoRA with better optimizers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on limited benchmarks; quantized settings not fully covered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fine-tuning: prompt loss effects (Huerta-Enochian &amp; Ko,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tuning experiments, loss-weighting studies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Prompt-loss weighting impacts instruction-following and output stability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instruction datasets; broader reproducibility not covered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Efficacy of fine-tuned open-source LLMs (Kim &amp; Park,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Large-scale evaluations of open LLMs, fine-tuning setups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Properly tuned smaller open models can match larger models on tasks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Reproducibility and variance analysis is secondary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62C39-4D9C-AE03-F552-1A540DEC2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AE84-3D83-4C5B-31F1-4157E3BF8FB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 (CONTD..,)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8756E-DF11-ADE3-CA3F-E7D4F77D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F65D9DD9-A165-7D0F-D3B9-0B833A0CC110}"/>
              </a:ext>
            </a:extLst>
          </p:cNvPr>
          <p:cNvGraphicFramePr>
            <a:graphicFrameLocks/>
          </p:cNvGraphicFramePr>
          <p:nvPr/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 stabilization scaling for LoRA (Li &amp; Zhou, 2023)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Theoretical &amp; empirical scaling for LoRA ranks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Scaling factors can stabilize training and reduce variance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Early-stage; requires wider empirical validation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Reproducible PEFT benchmarks (Li &amp; Zhou, 2025)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 design, standardized metrics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protocols and multi-seed baselines to improve comparability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community adoption; empirical adoption pending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InfLoRA: interference-free adaptation (Liang et al.,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LoRA updates to reduce interference (continual)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catastrophic interference across sequential tasks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complexity; tested on limited continual tasks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Low-rank adaptation under quantization (Lin &amp; Cho, 2023)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and empirical study of LoRA + quantization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quantization interacts with low-rank updates and can degrade performance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Earlier quant schemes; modern QLoRA behavior warrants fresh tests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65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869F5-4EA6-DC0D-7212-DD1D8BFC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3324539-E09B-F76A-11D7-1787C57A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293688"/>
            <a:ext cx="11522075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 (CONTD..,)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34362C6-EB74-3FEA-75D4-D99215EFD4E6}"/>
              </a:ext>
            </a:extLst>
          </p:cNvPr>
          <p:cNvSpPr txBox="1">
            <a:spLocks/>
          </p:cNvSpPr>
          <p:nvPr/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defPPr>
              <a:defRPr lang="en-US"/>
            </a:defPPr>
            <a:lvl1pPr marL="0" algn="r" defTabSz="1149448" rtl="0" eaLnBrk="1" latinLnBrk="0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74724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9448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4172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8895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73621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48344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23069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97793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2A2637-A5A3-49FA-B214-6E67543099EF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20" name="Content Placeholder 5">
            <a:extLst>
              <a:ext uri="{FF2B5EF4-FFF2-40B4-BE49-F238E27FC236}">
                <a16:creationId xmlns:a16="http://schemas.microsoft.com/office/drawing/2014/main" id="{FA0D51E5-BBC1-761D-A6AA-735E27DED586}"/>
              </a:ext>
            </a:extLst>
          </p:cNvPr>
          <p:cNvGraphicFramePr>
            <a:graphicFrameLocks/>
          </p:cNvGraphicFramePr>
          <p:nvPr/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X-LoRA: mixture of LoRA experts (Luo &amp; Wang,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Mixture-of-experts + LoRA adapters, gating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MoE increases expressivity and task performance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complexity and gating randomness can raise instability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Revisiting randomness: seed sensitivity (Pradhan &amp; Gupta,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Multi-seed experiments, variance decomposition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large seed-driven variance; single-run reporting risky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limited datasets/models; needs broader generalization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SLoRA: scalable serving of adapters (Sheng et al.,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Systems design for serving many LoRA adapters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serving architecture enabling many adapters with low latency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focus — algorithmic repeatability not central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Scaling low-rank adapters for deployment (Singh &amp; Nair,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 &amp; scaling techniques for LoRA deployment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insights for low-latency, scalable adapter serving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controlled experiments on reproducibility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50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85C74-B2CC-9E18-04D3-F30CD73EA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E2104-0B4F-6A0D-A2E7-9CA09253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D8DDF91-886D-D96A-AC46-A347B17E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293688"/>
            <a:ext cx="11522075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 (CONTD..,)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E88D920-3B54-520A-BE32-1302C8CBF81E}"/>
              </a:ext>
            </a:extLst>
          </p:cNvPr>
          <p:cNvSpPr txBox="1">
            <a:spLocks/>
          </p:cNvSpPr>
          <p:nvPr/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defPPr>
              <a:defRPr lang="en-US"/>
            </a:defPPr>
            <a:lvl1pPr marL="0" algn="r" defTabSz="1149448" rtl="0" eaLnBrk="1" latinLnBrk="0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74724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9448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4172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8895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73621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48344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23069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97793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2A2637-A5A3-49FA-B214-6E67543099EF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20" name="Content Placeholder 5">
            <a:extLst>
              <a:ext uri="{FF2B5EF4-FFF2-40B4-BE49-F238E27FC236}">
                <a16:creationId xmlns:a16="http://schemas.microsoft.com/office/drawing/2014/main" id="{CB5E2107-C112-86B4-38B6-C700D1163D08}"/>
              </a:ext>
            </a:extLst>
          </p:cNvPr>
          <p:cNvGraphicFramePr>
            <a:graphicFrameLocks/>
          </p:cNvGraphicFramePr>
          <p:nvPr/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 encode clinical knowledge (Singhal et al., 2023)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of LLMs on biomedical corpora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LMs capture substantial clinical knowledge useful for tasks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analyze fine-tuning repeatability or quantization effects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Generalizable &amp; stable fine-tuning of PLMs (Somayajula et al.,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Stability-regularized fine-tuning, multi-seed eval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Regularization &amp; multi-seed protocols improve robustness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higher training cost; tested on medium-scale models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&amp; reproducibility of LLMs (Sun &amp; Li,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Empirical benchmarks across versions/implementations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choices (libs, quant) significantly affect variance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Coverage limited to selected LLM families/tasks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mLoRA: pipeline parallelism for adapters (Tang et al.,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Pipeline parallelism + LoRA for adapter training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Speedups and throughput gains for multi-adapter training at scale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systems/performance; reproducibility limitedly explored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189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E3AE5-FC56-B907-8E7C-9261B0B1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83FF2-0532-AD61-7D5F-0DC6BF57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0C23801-0BDA-CDA2-99A7-33F74FE3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293688"/>
            <a:ext cx="11522075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 (CONTD..,)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88C47DB-4475-D509-658D-B9A16121DBC9}"/>
              </a:ext>
            </a:extLst>
          </p:cNvPr>
          <p:cNvSpPr txBox="1">
            <a:spLocks/>
          </p:cNvSpPr>
          <p:nvPr/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defPPr>
              <a:defRPr lang="en-US"/>
            </a:defPPr>
            <a:lvl1pPr marL="0" algn="r" defTabSz="1149448" rtl="0" eaLnBrk="1" latinLnBrk="0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74724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9448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4172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8895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73621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48344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23069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97793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2A2637-A5A3-49FA-B214-6E67543099EF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20" name="Content Placeholder 5">
            <a:extLst>
              <a:ext uri="{FF2B5EF4-FFF2-40B4-BE49-F238E27FC236}">
                <a16:creationId xmlns:a16="http://schemas.microsoft.com/office/drawing/2014/main" id="{1AA3B20D-BBE6-390C-9EE2-3B032B17F645}"/>
              </a:ext>
            </a:extLst>
          </p:cNvPr>
          <p:cNvGraphicFramePr>
            <a:graphicFrameLocks/>
          </p:cNvGraphicFramePr>
          <p:nvPr/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review of PEFT in LLMs (Wang et al., 2025)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of PEFT methods &amp; issues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Synthesizes best practices and highlights reproducibility gaps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only — no new experiments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Adapter fusion for instruction LLMs (Wang &amp; Li,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Adapter fusion techniques, fusion training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 improves multi-domain generalization if tuned well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hyperparameters; fusion stability needs care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Evaluating clinical accuracy of biomedical LLMs (Wang et al.,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Fine-tuning biomedical LLMs; clinical accuracy metrics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Finds inconsistencies in clinical accuracy and instability across runs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accuracy; reproducibility metrics and multi-seed tests limited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Fine-tuning lowers safety (Wu &amp; Zhou, 2025)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&amp; eval consistency analysis pre/post fine-tuning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naive fine-tuning can degrade safety/evaluation consistency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work; needs replication across models/datasets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598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69DC-66A0-3791-698A-5A735022B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DC55D-D792-10C5-FA23-5440EC43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19DF366-706A-C9C1-164E-0F78CF94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293688"/>
            <a:ext cx="11522075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 (CONTD..,)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4DAE6DF9-7C2C-B395-F1B7-49B18A2E1D1D}"/>
              </a:ext>
            </a:extLst>
          </p:cNvPr>
          <p:cNvSpPr txBox="1">
            <a:spLocks/>
          </p:cNvSpPr>
          <p:nvPr/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defPPr>
              <a:defRPr lang="en-US"/>
            </a:defPPr>
            <a:lvl1pPr marL="0" algn="r" defTabSz="1149448" rtl="0" eaLnBrk="1" latinLnBrk="0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74724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9448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4172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8895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73621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48344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23069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97793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2A2637-A5A3-49FA-B214-6E67543099EF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20" name="Content Placeholder 5">
            <a:extLst>
              <a:ext uri="{FF2B5EF4-FFF2-40B4-BE49-F238E27FC236}">
                <a16:creationId xmlns:a16="http://schemas.microsoft.com/office/drawing/2014/main" id="{82361473-84BE-3EEC-83DA-C6AEEF0BA714}"/>
              </a:ext>
            </a:extLst>
          </p:cNvPr>
          <p:cNvGraphicFramePr>
            <a:graphicFrameLocks/>
          </p:cNvGraphicFramePr>
          <p:nvPr/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v-S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VB-LoRA: vector-bank LoRA (Xu &amp; Feng,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vector banks + LoRA-style adapters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parameter reuse and memory efficiency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 in bank management; repeatability not emphasized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Rank-efficient LoRA via scaling-aware opt (Xu &amp; Tan,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Scaling-aware optimizers for low-rank adapters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variance and improves rank efficiency in training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further testing under quantized regimes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LoRA+: enhanced low-rank adaptation (Xie &amp; Zhao,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Algorithmic improvements to LoRA scaling &amp; updates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convergence and better approximation to full tuning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validation under QLoRA quantization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tuning survey (Zhang et al., 2023)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instruction-tuning methods &amp; datasets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instruction data &amp; protocol strongly shape LLM behavior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High-level; reproducibility details are sparse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697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A113-76A5-251A-952D-6F6B0E69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47EC2-C2A3-77BB-6A5F-91305E34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8AC1802-D0E8-2F82-8E72-D4B755199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293688"/>
            <a:ext cx="11522075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 (CONTD..,)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1616699E-C2E2-0256-21D3-3001C22A6DB9}"/>
              </a:ext>
            </a:extLst>
          </p:cNvPr>
          <p:cNvSpPr txBox="1">
            <a:spLocks/>
          </p:cNvSpPr>
          <p:nvPr/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defPPr>
              <a:defRPr lang="en-US"/>
            </a:defPPr>
            <a:lvl1pPr marL="0" algn="r" defTabSz="1149448" rtl="0" eaLnBrk="1" latinLnBrk="0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74724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9448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4172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8895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73621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48344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23069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97793" algn="l" defTabSz="1149448" rtl="0" eaLnBrk="1" latinLnBrk="0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2A2637-A5A3-49FA-B214-6E67543099EF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20" name="Content Placeholder 5">
            <a:extLst>
              <a:ext uri="{FF2B5EF4-FFF2-40B4-BE49-F238E27FC236}">
                <a16:creationId xmlns:a16="http://schemas.microsoft.com/office/drawing/2014/main" id="{1B157A53-8472-B008-3F39-1F52AFC62C53}"/>
              </a:ext>
            </a:extLst>
          </p:cNvPr>
          <p:cNvGraphicFramePr>
            <a:graphicFrameLocks/>
          </p:cNvGraphicFramePr>
          <p:nvPr/>
        </p:nvGraphicFramePr>
        <p:xfrm>
          <a:off x="685799" y="1669892"/>
          <a:ext cx="11475720" cy="261750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Ultimate guide to fine-tuning LLMs (Zhao &amp; Wang,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protocols and checklist for fine-tuning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Lists reproducibility best-practices and common pitfalls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 lacks large-scale empirical validation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(Non-)Repeatability of ML experiments (Zhuang et al., 2024)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Meta-analysis of reproducibility factors (seed, env)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ML studies underreport nondeterminism sources; reproducibility needs strict control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ML scope; LLM-specific actionable protocols limited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260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26A38-AF66-CB17-C00D-00E41E46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studies on biomedical LLM fine-tuning focus either on advanced techniques such as QLoRA and LoRA or on general datasets, but lack focused evaluation on PubMedBERT with MedMCQA dataset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Most prior work does not adequately analyze reproducibility under controlled experimental settings, especially the impact of random seed variation on model performance and stability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Many approaches rely on multiple models and complex training pipelines, leading to increased computational cost and reduced practicality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attention is given to training behavior analysis such as loss convergence, validation stability, and generalization performance in biomedical QA tasks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lack of efficient and lightweight fine-tuning frameworks that can provide reliable performance under resource-constrained environments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C503F-E636-2C77-2E2B-D49FB772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FBA88FF-7E20-1361-34A7-372EBEBC8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599" cy="1512888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3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DA32E-EBE5-59A6-CA71-09F2FF60E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fine-tune the PubMedBERT model on the MedMCQA dataset for biomedical question answering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/>
              <a:t>To evaluate model performance using metrics such as accuracy, training loss, and validation loss while developing an efficient and lightweight fine-tuning approach suitable for limited GPU resources.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analyze reproducibility by conducting experiments with two different random seeds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study training stability through loss convergence and validation behavior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177CC-2315-50D6-095B-1DEAC7B3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102A0D-6DAC-5DDA-BF6A-08B7D0969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599" cy="1512888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 OBJECTIVES</a:t>
            </a:r>
          </a:p>
        </p:txBody>
      </p:sp>
    </p:spTree>
    <p:extLst>
      <p:ext uri="{BB962C8B-B14F-4D97-AF65-F5344CB8AC3E}">
        <p14:creationId xmlns:p14="http://schemas.microsoft.com/office/powerpoint/2010/main" val="4119452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Preprocessing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Prepares the MedMCQA dataset through cleaning, formatting, and tokenization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PubMedBERT and configures it for multiple-choice biomedical QA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Training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Fine-tunes the model using labeled data with loss optimization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Evaluation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performance using accuracy, training loss, and validation loss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Visualization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training and validation loss curves for analysis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Module Interaction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flows sequentially from preprocessing to model, training, evaluation, and visualization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SYSTEM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8C63725-535B-43D4-15D8-EAD9CC30B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6098" y="1706563"/>
            <a:ext cx="10149405" cy="482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Implementation of Modules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data preprocessing, model loading, training, evaluation, and visualization modules using Python and PyTorch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Strategy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all modules into a sequential pipeline where data flows from preprocessing to model training, followed by evaluation and result generation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Challenges Faced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GPU resources, training interruptions, and longer training time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Solutions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reduced batch size, checkpoint saving, and efficient training settings to ensure smooth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9.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a biomedical question answering prototype using PubMedBERT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Multiple-choice medical questions from MedMCQA dataset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tokenization and encoding using PubMedBERT tokenizer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Fine-tuned PubMedBERT predicts the correct answer option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 using two different random seeds to ensure reproducibility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measured using accuracy, F1-score, training loss, and validation loss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Predicted answers along with performance metrics and analysis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a working biomedical question answering system using PubMedBERT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successfully predicts correct answers for multiple-choice medical questions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Achieved high performance with accuracy around 78% and consistent F1-score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demonstrates stable learning with effective generalization on validation data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Confusion matrix shows most predictions are correctly classified with minimal errors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Results confirm that the model is reliable and suitable for biomedical QA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6FB45A-830E-0C76-18D6-121483613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763" y="2395964"/>
            <a:ext cx="11522075" cy="34487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4CD4C-795A-358C-3998-FD8A0850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269E10-ADDA-3D39-1375-65847861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599" cy="1512888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</a:t>
            </a:r>
          </a:p>
        </p:txBody>
      </p:sp>
    </p:spTree>
    <p:extLst>
      <p:ext uri="{BB962C8B-B14F-4D97-AF65-F5344CB8AC3E}">
        <p14:creationId xmlns:p14="http://schemas.microsoft.com/office/powerpoint/2010/main" val="2321591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Metrics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an accuracy of approximately 78% with consistent F1-score across different random seeds, indicating reliable and reproducible performance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Observations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fine-tuning achieved the highest accuracy, while LoRA and QLoRA provided competitive results with significantly reduced computational requirements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GPU Usage and Efficiency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QLoRA and LoRA reduced GPU memory usage drastically compared to full fine-tuning, enabling training on limited-resource environments with faster throughput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Validation of Approach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 curves demonstrate stable convergence, and evaluation metrics confirm good generalization on unseen data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Insight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clear trade-off between accuracy and efficiency, where full fine-tuning maximizes performance and QLoRA maximizes resource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959CF9-F402-9206-FA94-3931DC455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763" y="2461282"/>
            <a:ext cx="11522075" cy="33181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A2DC7-2E13-EEC8-C1F3-96C97FD3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22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6F853CA-7DD9-3B11-AA4B-6F7A8C754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888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</a:t>
            </a:r>
          </a:p>
        </p:txBody>
      </p:sp>
    </p:spTree>
    <p:extLst>
      <p:ext uri="{BB962C8B-B14F-4D97-AF65-F5344CB8AC3E}">
        <p14:creationId xmlns:p14="http://schemas.microsoft.com/office/powerpoint/2010/main" val="2364423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908C34-3385-437D-AAF8-E92E99AF7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8629" y="1706563"/>
            <a:ext cx="8124342" cy="48275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AA065-534E-615B-61FF-DF6EB6AC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A5B056-3B9B-1912-AF05-B4EE51C3B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599" cy="1512888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</a:t>
            </a:r>
          </a:p>
        </p:txBody>
      </p:sp>
    </p:spTree>
    <p:extLst>
      <p:ext uri="{BB962C8B-B14F-4D97-AF65-F5344CB8AC3E}">
        <p14:creationId xmlns:p14="http://schemas.microsoft.com/office/powerpoint/2010/main" val="970865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CB7D12-855D-799E-D4D3-2A206D412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275838"/>
            <a:ext cx="5620534" cy="44773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4A0F1-9C74-96F4-6119-D20577A3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375E98-737B-A080-D838-EB6549E74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599" cy="1512888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E7EAA0-773D-8DC7-55CD-F0604D050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9" y="2418733"/>
            <a:ext cx="5611008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78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7465135"/>
              </p:ext>
            </p:extLst>
          </p:nvPr>
        </p:nvGraphicFramePr>
        <p:xfrm>
          <a:off x="685799" y="1669892"/>
          <a:ext cx="11475720" cy="4578512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89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7119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Month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Task / Activity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Milestone / Expected Outcome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0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September - October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Literature review and dataset understanding using MedMCQA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Research gap identified and dataset prepared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0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1149448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November - December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49448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Data preprocessing and input pipeline setup using PubMedBERT tokenizer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49448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Cleaned and tokenized data ready for model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042677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January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PubMedBERT model setup and fine-tuning using two random seeds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Trained models and reproducibility analysis completed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February - March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Model evaluation using accuracy, F1-score, and loss metrics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Performance metrics generated and validated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993204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April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Result analysis, visualization, documentation, and presentation preparation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Final report and PPT completed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361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271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1. Alahmari, R., Ahmad, A., &amp; Alqahtani, M. (2024). Repeatability of fine-tuning large language models illustrated using QLoRA. IEEE Access, 12, 56912–56925.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2. Chen, D., &amp; Liu, Y. (2024). Systematic evaluation of quantization-aware LoRA fine-tuning. Neurocomputing, 575, 127368.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3. Dettmers, T., Pagnoni, A., Holtzman, A., &amp; Zettlemoyer, L. (2023). QLoRA: Efficient fine-tuning of quantized large language models. arXiv preprint arXiv:2305.14314.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4. Ding, N., Cheng, R., Wang, X., Wang, Z., &amp; Xie, P. (2023). Parameter-efficient fine-tuning of large-scale pre-trained models. Nature Machine Intelligence, 5(8), 873–887.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5. Han, Z., Chen, X., &amp; Li, S. (2024). Parameter-efficient fine-tuning for large models: A survey. arXiv preprint arXiv:2402.12345.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6. Hu, Y., Zhang, W., &amp; Li, F. (2024). LoRA-Pro: Are low-rank adapters properly optimized? arXiv preprint arXiv:2402.05612.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7. Huerta-Enochian, A., &amp; Ko, M. (2024). Instruction fine-tuning: Does prompt loss matter? In Proceedings of the 2024 Conference on Empirical Methods in Natural Language Processing (EMNLP).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8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8. Kim, S., &amp; Park, J. (2024). The efficacy of fine-tuned open-source LLMs in large-scale tasks. arXiv preprint arXiv:2403.12190.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9. Li, C., &amp; Zhou, Y. (2023). A rank stabilization scaling factor for fine-tuning with LoRA. arXiv preprint arXiv:2312.04912.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10. Li, W., &amp; Zhou, J. (2025). Toward reproducible benchmarks for parameter-efficient fine-tuning. IEEE Transactions on Artificial Intelligence, 6(2), 331–345.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11. Liang, J., Zhang, Q., Zhao, Y., &amp; Chen, W. (2024). InfLoRA: Interference-free low-rank adaptation for continual learning. In Proceedings of the IEEE/CVF Conference on Computer Vision and Pattern Recognition (CVPR 2024), 15876–15885.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12. Lin, K., &amp; Cho, H. (2023). Low-rank adaptation under quantized representations. IEEE Transactions on Neural Networks and Learning Systems, 34(11), 9123–9135.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13. Luo, F., &amp; Wang, R. (2024). X-LoRA: Mixture of low-rank adapter experts for language model adaptation. arXiv preprint arXiv:2404.05622.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14. Pradhan, R., &amp; Gupta, S. (2024). Revisiting randomness: Seed sensitivity and stability in LoRA-based fine-tuning. In Proceedings of Machine Learning and Systems (MLSys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9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15. Sheng, Y., Zhang, D., Tang, J., &amp; Chen, T. (2024). SLoRA: Scalable serving of thousands of LoRA adapters. arXiv preprint arXiv:2311.05682.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16. Singh, A., &amp; Nair, S. (2024). Scaling low-rank adapters for large model deployment. IEEE Access, 12, 22561–22572.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17. Singhal, K., Tu, T., Gottweis, J., et al. (2023). Large language models encode clinical knowledge. Nature, 620(7972), 172–180.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18. Somayajula, S., Bhattacharya, A., &amp; Joty, S. (2024). Generalizable and stable fine-tuning of pretrained language models. In Proceedings of the 2024 NAACL Conference.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19. Sun, J., &amp; Li, X. (2024). Performance and reproducibility of large language models: An empirical study. Artificial Intelligence Review, 18(3), 215–229.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20. Tang, Y., Ye, Z., Zhao, X., &amp; Jin, H. (2024). mLoRA: Fine-tuning LoRA adapters via highly-efficient pipeline parallelism. Proceedings of the VLDB Endowment, 17(8), 1801–1814.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21. Wang, L., Zhao, H., &amp; Xu, J. (2025). Parameter-efficient fine-tuning in large language models: A comprehensive review. Journal of Artificial Intelligence Research, 14(1), 101–129.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22. Wang, Q., &amp; Li, N. (2024). Adapter fusion for instruction-tuned large language models. Neural Computing and Applications, 36(8), 11873–11889.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25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23. Wang, S., Li, P., &amp; Chen, M. (2024). Evaluating clinical accuracy and consistency of fine-tuned biomedical large language models. Journal of Biomedical Informatics, 151, 104273.</a:t>
            </a:r>
          </a:p>
          <a:p>
            <a:pPr marL="0" indent="0" algn="just"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24. Wu, T., &amp; Zhou, H. (2025). Fine-tuning lowers safety and disrupts evaluation consistency. arXiv preprint arXiv:2501.04567.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25. Xu, R., &amp; Feng, Q. (2024). VB-LoRA: Extreme parameter-efficient fine-tuning with vector banks. arXiv preprint arXiv:2403.07187.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26. Xu, Y., &amp; Tan, C. (2024). Rank-efficient low-rank adaptation via scaling-aware optimization. arXiv preprint arXiv:2405.08765.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27. Xie, T., &amp; Zhao, P. (2024). LoRA+: Efficient low-rank adaptation of large models. arXiv preprint arXiv:2401.03100.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28. Zhang, S., Liu, Z., &amp; Li, M. (2023). Instruction tuning for large language models: A survey. arXiv preprint arXiv:2310.04921.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29. Zhao, B., &amp; Wang, D. (2024). The ultimate guide to fine-tuning large language models from basics to practice. arXiv preprint arXiv:2402.09789.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30. Zhuang, W., Lin, H., &amp; Wang, Y. (2024). On the (Non-)Repeatability and Reproducibility of Machine Learning Experiments. European Symposium on Artificial Neural Networks (ESANN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67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16079</TotalTime>
  <Words>3437</Words>
  <Application>Microsoft Office PowerPoint</Application>
  <PresentationFormat>Custom</PresentationFormat>
  <Paragraphs>377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Efficient and Reproducible Fine-Tuning of Biomedical Large Language Models Using QLoRA</vt:lpstr>
      <vt:lpstr>CONTENTS</vt:lpstr>
      <vt:lpstr>1.ABSTRACT</vt:lpstr>
      <vt:lpstr>2. INTRODUCTION</vt:lpstr>
      <vt:lpstr>3.LITERATURE SURVEY</vt:lpstr>
      <vt:lpstr>3.LITERATURE SURVEY (CONTD..,)</vt:lpstr>
      <vt:lpstr>3.LITERATURE SURVEY (CONTD..,)</vt:lpstr>
      <vt:lpstr>3.LITERATURE SURVEY (CONTD..,)</vt:lpstr>
      <vt:lpstr>3.LITERATURE SURVEY (CONTD..,)</vt:lpstr>
      <vt:lpstr>3.LITERATURE SURVEY (CONTD..,)</vt:lpstr>
      <vt:lpstr>3.LITERATURE SURVEY (CONTD..,)</vt:lpstr>
      <vt:lpstr>3.LITERATURE SURVEY (CONTD..,)</vt:lpstr>
      <vt:lpstr>4. RESEARCH GAPS</vt:lpstr>
      <vt:lpstr>5. OBJECTIVES</vt:lpstr>
      <vt:lpstr>6. MODULE IDENTIFICATION</vt:lpstr>
      <vt:lpstr>7. SYSTEM ARCHITECTURE</vt:lpstr>
      <vt:lpstr>8. DEVELOPMENT &amp; INTEGRATION</vt:lpstr>
      <vt:lpstr>9. PROTOTYPE</vt:lpstr>
      <vt:lpstr>10. OUTCOME</vt:lpstr>
      <vt:lpstr>10. OUTCOME</vt:lpstr>
      <vt:lpstr>11. RESULTS</vt:lpstr>
      <vt:lpstr>11. RESULTS</vt:lpstr>
      <vt:lpstr>11. RESULTS</vt:lpstr>
      <vt:lpstr>11. RESULTS</vt:lpstr>
      <vt:lpstr>12. TIMELINE / GANTT CHART</vt:lpstr>
      <vt:lpstr>13. REFERENCES</vt:lpstr>
      <vt:lpstr>REFERENCES (CONTD..,)</vt:lpstr>
      <vt:lpstr>REFERENCES (CONTD..,)</vt:lpstr>
      <vt:lpstr>REFERENCES (CONTD..,)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Chigurupati Venkat Sai Kiran</cp:lastModifiedBy>
  <cp:revision>129</cp:revision>
  <dcterms:created xsi:type="dcterms:W3CDTF">2020-07-13T09:49:45Z</dcterms:created>
  <dcterms:modified xsi:type="dcterms:W3CDTF">2026-06-22T21:05:47Z</dcterms:modified>
</cp:coreProperties>
</file>